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2" r:id="rId2"/>
    <p:sldId id="263" r:id="rId3"/>
    <p:sldId id="264" r:id="rId4"/>
    <p:sldId id="265" r:id="rId5"/>
    <p:sldId id="266" r:id="rId6"/>
    <p:sldId id="280" r:id="rId7"/>
    <p:sldId id="279" r:id="rId8"/>
    <p:sldId id="271" r:id="rId9"/>
    <p:sldId id="277" r:id="rId10"/>
    <p:sldId id="276" r:id="rId11"/>
    <p:sldId id="282" r:id="rId12"/>
    <p:sldId id="284" r:id="rId13"/>
    <p:sldId id="270" r:id="rId14"/>
    <p:sldId id="275" r:id="rId15"/>
    <p:sldId id="272" r:id="rId16"/>
    <p:sldId id="268" r:id="rId17"/>
    <p:sldId id="376" r:id="rId18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7" d="100"/>
          <a:sy n="57" d="100"/>
        </p:scale>
        <p:origin x="466" y="4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ru-RU" sz="1400" b="1">
                <a:solidFill>
                  <a:srgbClr val="FFFFFF"/>
                </a:solidFill>
              </a:rPr>
              <a:t>Утёк ключ к 40% заданий: доля получивших грейд выше, %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7"/>
          <c:y val="0.18"/>
          <c:w val="0.6"/>
          <c:h val="0.75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prstGeom prst="rect">
                <a:avLst/>
              </a:prstGeom>
              <a:solidFill>
                <a:srgbClr val="FFD6E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54-4946-A7E0-7F9C4D89AB9D}"/>
              </c:ext>
            </c:extLst>
          </c:dPt>
          <c:dPt>
            <c:idx val="1"/>
            <c:invertIfNegative val="0"/>
            <c:bubble3D val="0"/>
            <c:spPr>
              <a:prstGeom prst="rect">
                <a:avLst/>
              </a:prstGeom>
              <a:solidFill>
                <a:srgbClr val="FFD6E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54-4946-A7E0-7F9C4D89AB9D}"/>
              </c:ext>
            </c:extLst>
          </c:dPt>
          <c:dPt>
            <c:idx val="2"/>
            <c:invertIfNegative val="0"/>
            <c:bubble3D val="0"/>
            <c:spPr>
              <a:prstGeom prst="rect">
                <a:avLst/>
              </a:prstGeom>
              <a:solidFill>
                <a:srgbClr val="FF005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254-4946-A7E0-7F9C4D89AB9D}"/>
              </c:ext>
            </c:extLst>
          </c:dPt>
          <c:dPt>
            <c:idx val="3"/>
            <c:invertIfNegative val="0"/>
            <c:bubble3D val="0"/>
            <c:spPr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254-4946-A7E0-7F9C4D89AB9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Наш + метод</c:v>
                </c:pt>
                <c:pt idx="1">
                  <c:v>Наш тест</c:v>
                </c:pt>
                <c:pt idx="2">
                  <c:v>Статичный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</c:v>
                </c:pt>
                <c:pt idx="1">
                  <c:v>0</c:v>
                </c:pt>
                <c:pt idx="2">
                  <c:v>53.5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254-4946-A7E0-7F9C4D89AB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rgbClr val="FFFFFF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6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688540351"/>
        <c:crosses val="autoZero"/>
        <c:crossBetween val="between"/>
        <c:majorUnit val="10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>
    <a:xfrm>
      <a:off x="346075" y="1424510"/>
      <a:ext cx="5749925" cy="440174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ru-RU" sz="1400" b="1">
                <a:solidFill>
                  <a:srgbClr val="FFFFFF"/>
                </a:solidFill>
              </a:rPr>
              <a:t>Точность топ-10 подборки (P@10)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1687999999999998E-2"/>
          <c:y val="0.12693499999999999"/>
          <c:w val="0.92608599999999996"/>
          <c:h val="0.667471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P@10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FFD6E4"/>
              </a:solidFill>
            </c:spPr>
            <c:extLst>
              <c:ext xmlns:c16="http://schemas.microsoft.com/office/drawing/2014/chart" uri="{C3380CC4-5D6E-409C-BE32-E72D297353CC}">
                <c16:uniqueId val="{00000001-7128-46BC-BC08-3224FD6062F8}"/>
              </c:ext>
            </c:extLst>
          </c:dPt>
          <c:dPt>
            <c:idx val="1"/>
            <c:invertIfNegative val="1"/>
            <c:bubble3D val="0"/>
            <c:spPr>
              <a:solidFill>
                <a:srgbClr val="FFD6E4"/>
              </a:solidFill>
            </c:spPr>
            <c:extLst>
              <c:ext xmlns:c16="http://schemas.microsoft.com/office/drawing/2014/chart" uri="{C3380CC4-5D6E-409C-BE32-E72D297353CC}">
                <c16:uniqueId val="{00000003-7128-46BC-BC08-3224FD6062F8}"/>
              </c:ext>
            </c:extLst>
          </c:dPt>
          <c:dPt>
            <c:idx val="2"/>
            <c:invertIfNegative val="1"/>
            <c:bubble3D val="0"/>
            <c:spPr>
              <a:solidFill>
                <a:srgbClr val="FFD6E4"/>
              </a:solidFill>
            </c:spPr>
            <c:extLst>
              <c:ext xmlns:c16="http://schemas.microsoft.com/office/drawing/2014/chart" uri="{C3380CC4-5D6E-409C-BE32-E72D297353CC}">
                <c16:uniqueId val="{00000005-7128-46BC-BC08-3224FD6062F8}"/>
              </c:ext>
            </c:extLst>
          </c:dPt>
          <c:dPt>
            <c:idx val="3"/>
            <c:invertIfNegative val="1"/>
            <c:bubble3D val="0"/>
            <c:spPr>
              <a:solidFill>
                <a:srgbClr val="FF0053"/>
              </a:solidFill>
            </c:spPr>
            <c:extLst>
              <c:ext xmlns:c16="http://schemas.microsoft.com/office/drawing/2014/chart" uri="{C3380CC4-5D6E-409C-BE32-E72D297353CC}">
                <c16:uniqueId val="{00000007-7128-46BC-BC08-3224FD6062F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Ключевые слова</c:v>
                </c:pt>
                <c:pt idx="1">
                  <c:v>BM25</c:v>
                </c:pt>
                <c:pt idx="2">
                  <c:v>Наш, без теста</c:v>
                </c:pt>
                <c:pt idx="3">
                  <c:v>Наш скоринг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0.32</c:v>
                </c:pt>
                <c:pt idx="2">
                  <c:v>0.77</c:v>
                </c:pt>
                <c:pt idx="3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128-46BC-BC08-3224FD6062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"/>
          <c:min val="0"/>
        </c:scaling>
        <c:delete val="0"/>
        <c:axPos val="l"/>
        <c:majorGridlines>
          <c:spPr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prstGeom prst="rect">
          <a:avLst/>
        </a:prstGeom>
        <a:noFill/>
        <a:ln w="25400">
          <a:noFill/>
        </a:ln>
        <a:effectLst/>
      </c:spPr>
    </c:plotArea>
    <c:plotVisOnly val="1"/>
    <c:dispBlanksAs val="gap"/>
    <c:showDLblsOverMax val="0"/>
  </c:chart>
  <c:spPr>
    <a:xfrm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63379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5520657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07.10.2026</a:t>
            </a:fld>
            <a:endParaRPr lang="ru-RU"/>
          </a:p>
        </p:txBody>
      </p:sp>
      <p:sp>
        <p:nvSpPr>
          <p:cNvPr id="1836455462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98739199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101240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3421919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A9E5B2-5710-8553-59E0-D35E1400D9A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C84E73-87D4-DBE8-7DE3-62D6FAB85F1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75304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8474613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5573025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940644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8358696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13430246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D62A9-DD91-4614-145A-447DE693689B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9026B-D314-CD26-24E5-5A294BD8BB6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BB4B17-2FE2-E385-B657-39FA0A995F12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9567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5967FE-19AF-E617-9C7D-C8D9685CFFA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8F6F2A-04F6-D6BA-9FFE-A89C5FD8515E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6597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1A6CC3-35EE-A0D2-4E62-8FB62609C7B3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159B66-29DB-B339-2387-A9192212E2DA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92B81-E539-A46D-8C67-59A4D3D45F8C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4970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6FC1AD-4724-9C6F-899A-43BBE8A1C0AA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2315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4C6B21-DC13-2ADD-4006-2AA64BBE10A3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113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2ABDDC-E605-1908-71C2-BB7B2FA19532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987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2ECBBE-3150-D330-D289-06C6D855CADD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[5:45–5:50] Спасибо! Ссылки на код, стенд и галерею — на слайде.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014945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72430454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692438069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254803376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166256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11878831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32965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07.10.2026</a:t>
            </a:fld>
            <a:endParaRPr lang="ru-RU"/>
          </a:p>
        </p:txBody>
      </p:sp>
      <p:sp>
        <p:nvSpPr>
          <p:cNvPr id="88519806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48506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0885047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846889663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395403536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6791665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2614952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859822655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60085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07.10.2026</a:t>
            </a:fld>
            <a:endParaRPr lang="ru-RU"/>
          </a:p>
        </p:txBody>
      </p:sp>
      <p:sp>
        <p:nvSpPr>
          <p:cNvPr id="3170976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2828194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882210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7635114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07.10.2026</a:t>
            </a:fld>
            <a:endParaRPr lang="ru-RU"/>
          </a:p>
        </p:txBody>
      </p:sp>
      <p:sp>
        <p:nvSpPr>
          <p:cNvPr id="147185734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442776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36884360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741093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05975603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1040666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07.10.2026</a:t>
            </a:fld>
            <a:endParaRPr lang="ru-RU"/>
          </a:p>
        </p:txBody>
      </p:sp>
      <p:sp>
        <p:nvSpPr>
          <p:cNvPr id="66331391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7592177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87864592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4710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1486661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93784858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8650525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85732118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07.10.2026</a:t>
            </a:fld>
            <a:endParaRPr lang="ru-RU"/>
          </a:p>
        </p:txBody>
      </p:sp>
      <p:sp>
        <p:nvSpPr>
          <p:cNvPr id="2112944267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7251874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640576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68716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07.10.2026</a:t>
            </a:fld>
            <a:endParaRPr lang="ru-RU"/>
          </a:p>
        </p:txBody>
      </p:sp>
      <p:sp>
        <p:nvSpPr>
          <p:cNvPr id="178729437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867315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380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5682351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2733204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807821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07.10.2026</a:t>
            </a:fld>
            <a:endParaRPr lang="ru-RU"/>
          </a:p>
        </p:txBody>
      </p:sp>
      <p:sp>
        <p:nvSpPr>
          <p:cNvPr id="110277810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030671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71968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07.10.2026</a:t>
            </a:fld>
            <a:endParaRPr lang="ru-RU"/>
          </a:p>
        </p:txBody>
      </p:sp>
      <p:sp>
        <p:nvSpPr>
          <p:cNvPr id="13172849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5275715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2928860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27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07.10.2026</a:t>
            </a:fld>
            <a:endParaRPr lang="ru-RU"/>
          </a:p>
        </p:txBody>
      </p:sp>
      <p:sp>
        <p:nvSpPr>
          <p:cNvPr id="209342654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93880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97114704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343200589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55970749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09728494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34181972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22448835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84631218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12811122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214753083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953459531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3096660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47725566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54785801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50080841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84017919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814612650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536282340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520682361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445881994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43373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07.10.2026</a:t>
            </a:fld>
            <a:endParaRPr lang="ru-RU"/>
          </a:p>
        </p:txBody>
      </p:sp>
      <p:sp>
        <p:nvSpPr>
          <p:cNvPr id="20299476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155437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6999990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87949461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34003779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96918084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64899009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29730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07.10.2026</a:t>
            </a:fld>
            <a:endParaRPr lang="ru-RU"/>
          </a:p>
        </p:txBody>
      </p:sp>
      <p:sp>
        <p:nvSpPr>
          <p:cNvPr id="60385789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8957787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833554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8867244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73533792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326013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486104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03895603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86375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07.10.2026</a:t>
            </a:fld>
            <a:endParaRPr lang="ru-RU"/>
          </a:p>
        </p:txBody>
      </p:sp>
      <p:sp>
        <p:nvSpPr>
          <p:cNvPr id="18658513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664500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8374988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0201526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83870644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5881828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21757723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533388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3231804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00311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07.10.2026</a:t>
            </a:fld>
            <a:endParaRPr lang="ru-RU"/>
          </a:p>
        </p:txBody>
      </p:sp>
      <p:sp>
        <p:nvSpPr>
          <p:cNvPr id="1919002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9854684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05058489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80594128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493608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2126713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86413164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461346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1302560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2660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7803065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14918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07.10.2026</a:t>
            </a:fld>
            <a:endParaRPr lang="ru-RU"/>
          </a:p>
        </p:txBody>
      </p:sp>
      <p:sp>
        <p:nvSpPr>
          <p:cNvPr id="12504329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429264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872219257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15593248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0734814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0193224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64177110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730919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5548632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028779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887971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4682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07.10.2026</a:t>
            </a:fld>
            <a:endParaRPr lang="ru-RU"/>
          </a:p>
        </p:txBody>
      </p:sp>
      <p:sp>
        <p:nvSpPr>
          <p:cNvPr id="40858464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5677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80412060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226785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45764074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8203643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0434061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1412791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9180370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0860242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0174421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34783818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0490281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7257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07.10.2026</a:t>
            </a:fld>
            <a:endParaRPr lang="ru-RU"/>
          </a:p>
        </p:txBody>
      </p:sp>
      <p:sp>
        <p:nvSpPr>
          <p:cNvPr id="147164132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4262874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63759826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16509850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2075112852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811566886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70768470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6674599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394931788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21428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2821365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07.10.2026</a:t>
            </a:fld>
            <a:endParaRPr lang="ru-RU"/>
          </a:p>
        </p:txBody>
      </p:sp>
      <p:sp>
        <p:nvSpPr>
          <p:cNvPr id="201515034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394641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4124534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0254276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8327373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27381973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18613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07.10.2026</a:t>
            </a:fld>
            <a:endParaRPr lang="ru-RU"/>
          </a:p>
        </p:txBody>
      </p:sp>
      <p:sp>
        <p:nvSpPr>
          <p:cNvPr id="49863925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753025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16544301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73349017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54024306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9284615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919074033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41871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121049846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4967946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0682125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4396333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0910307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351591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85468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9277272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506949215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8744216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717764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3178448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3702831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68170789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07.10.2026</a:t>
            </a:fld>
            <a:endParaRPr lang="ru-RU"/>
          </a:p>
        </p:txBody>
      </p:sp>
      <p:sp>
        <p:nvSpPr>
          <p:cNvPr id="740293815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82747317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001983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77659601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463782977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1908817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0627785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07.10.2026</a:t>
            </a:fld>
            <a:endParaRPr lang="ru-RU"/>
          </a:p>
        </p:txBody>
      </p:sp>
      <p:sp>
        <p:nvSpPr>
          <p:cNvPr id="177645899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4044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65757989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10803657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95497516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19873897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733005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16792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59641616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8221153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07.10.2026</a:t>
            </a:fld>
            <a:endParaRPr lang="ru-RU"/>
          </a:p>
        </p:txBody>
      </p:sp>
      <p:sp>
        <p:nvSpPr>
          <p:cNvPr id="14782279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044112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reev-duty/deckforg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deckforge.streamlit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231274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>
              <a:defRPr/>
            </a:pPr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  <a:endParaRPr dirty="0"/>
          </a:p>
        </p:txBody>
      </p:sp>
      <p:sp>
        <p:nvSpPr>
          <p:cNvPr id="297161346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E4FEA3-93F3-F2CE-F005-2F4B522DE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69" y="263752"/>
            <a:ext cx="1563415" cy="1563415"/>
          </a:xfrm>
          <a:prstGeom prst="rect">
            <a:avLst/>
          </a:prstGeom>
        </p:spPr>
      </p:pic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4C69322-ECA6-ACAE-7259-07AEA3601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3246120"/>
            <a:ext cx="6949440" cy="2286000"/>
          </a:xfrm>
          <a:noFill/>
        </p:spPr>
        <p:txBody>
          <a:bodyPr wrap="square" anchor="b">
            <a:noAutofit/>
          </a:bodyPr>
          <a:lstStyle/>
          <a:p>
            <a:pPr indent="0">
              <a:lnSpc>
                <a:spcPct val="95000"/>
              </a:lnSpc>
              <a:spcBef>
                <a:spcPts val="0"/>
              </a:spcBef>
            </a:pPr>
            <a:r>
              <a:rPr lang="ru-RU" sz="4800" dirty="0" err="1">
                <a:solidFill>
                  <a:schemeClr val="bg1"/>
                </a:solidFill>
              </a:rPr>
              <a:t>Ashen</a:t>
            </a:r>
            <a:r>
              <a:rPr lang="ru-RU" sz="4800" dirty="0">
                <a:solidFill>
                  <a:schemeClr val="bg1"/>
                </a:solidFill>
              </a:rPr>
              <a:t> One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480730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2123601848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387401625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Задания — параметрические семейства: у каждого кандидата свой экземпляр, поэтому слитый ключ бесполезен. Грейд присваивает тест IRT/CAT, а к каждой карточке подборки приложено объяснение.</a:t>
            </a:r>
          </a:p>
        </p:txBody>
      </p:sp>
      <p:sp>
        <p:nvSpPr>
          <p:cNvPr id="679503491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 b="0">
                <a:solidFill>
                  <a:schemeClr val="tx1"/>
                </a:solidFill>
              </a:rPr>
              <a:t>Артём Киреев, разработка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 b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r>
              <a:rPr lang="ru-RU" b="0">
                <a:solidFill>
                  <a:schemeClr val="tx1"/>
                </a:solidFill>
              </a:rPr>
              <a:t>семейная команда. Артём пишет код, Лариса отвечает за дизайн — продукт собрали вдвоём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Место работы / учёбы: </a:t>
            </a:r>
            <a:r>
              <a:rPr lang="ru-RU" b="0">
                <a:solidFill>
                  <a:schemeClr val="tx1"/>
                </a:solidFill>
              </a:rPr>
              <a:t>ООО ГКС, ОДС № 42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</a:t>
            </a:r>
            <a:r>
              <a:rPr lang="ru-RU" b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313669207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cxnSp>
        <p:nvCxnSpPr>
          <p:cNvPr id="2070375857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5527135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9437052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5849426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27141145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Платформа подбора ИТ-специалистов с обратной механикой. Кандидат проходит адаптивный тест и получает категорию «специализация × грейд». Работодатель описывает потребность и сам приглашает кандидата с обязательной зарплатной вилкой.</a:t>
            </a:r>
          </a:p>
        </p:txBody>
      </p:sp>
      <p:sp>
        <p:nvSpPr>
          <p:cNvPr id="1168551202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4" name="Рисунок 3" descr="dbc97f592057b5e8.jpg">
            <a:extLst>
              <a:ext uri="{FF2B5EF4-FFF2-40B4-BE49-F238E27FC236}">
                <a16:creationId xmlns:a16="http://schemas.microsoft.com/office/drawing/2014/main" id="{49973C4B-A245-5E0D-9E79-A5BB3A5892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86" b="9086"/>
          <a:stretch>
            <a:fillRect/>
          </a:stretch>
        </p:blipFill>
        <p:spPr bwMode="auto">
          <a:xfrm>
            <a:off x="0" y="335267"/>
            <a:ext cx="6456363" cy="2971784"/>
          </a:xfrm>
          <a:prstGeom prst="rect">
            <a:avLst/>
          </a:prstGeom>
        </p:spPr>
      </p:pic>
      <p:sp>
        <p:nvSpPr>
          <p:cNvPr id="8" name="Заголовок 6">
            <a:extLst>
              <a:ext uri="{FF2B5EF4-FFF2-40B4-BE49-F238E27FC236}">
                <a16:creationId xmlns:a16="http://schemas.microsoft.com/office/drawing/2014/main" id="{17BF3507-5171-4EA1-5E90-139C725B4FB5}"/>
              </a:ext>
            </a:extLst>
          </p:cNvPr>
          <p:cNvSpPr txBox="1">
            <a:spLocks/>
          </p:cNvSpPr>
          <p:nvPr/>
        </p:nvSpPr>
        <p:spPr bwMode="auto">
          <a:xfrm>
            <a:off x="6821424" y="914400"/>
            <a:ext cx="4937760" cy="822960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600">
                <a:solidFill>
                  <a:schemeClr val="accent5"/>
                </a:solidFill>
                <a:latin typeface="+mn-lt"/>
              </a:rPr>
              <a:t>Ashen One</a:t>
            </a:r>
            <a:endParaRPr lang="ru-RU" sz="36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383365" name="Скругленный прямоугольник 12"/>
          <p:cNvSpPr/>
          <p:nvPr/>
        </p:nvSpPr>
        <p:spPr bwMode="auto">
          <a:xfrm>
            <a:off x="346075" y="324562"/>
            <a:ext cx="407365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26187825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559829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r>
              <a:t>УЧАСТНИКИ КОМАНДЫ</a:t>
            </a:r>
          </a:p>
        </p:txBody>
      </p:sp>
      <p:sp>
        <p:nvSpPr>
          <p:cNvPr id="4" name="Скругленный прямоугольник 55">
            <a:extLst>
              <a:ext uri="{FF2B5EF4-FFF2-40B4-BE49-F238E27FC236}">
                <a16:creationId xmlns:a16="http://schemas.microsoft.com/office/drawing/2014/main" id="{6FE355C1-83BD-820C-75C1-72253B5B82C0}"/>
              </a:ext>
            </a:extLst>
          </p:cNvPr>
          <p:cNvSpPr/>
          <p:nvPr/>
        </p:nvSpPr>
        <p:spPr>
          <a:xfrm>
            <a:off x="6370168" y="1517904"/>
            <a:ext cx="3566160" cy="483717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308FA118-E585-1897-3EA1-63CC130953C5}"/>
              </a:ext>
            </a:extLst>
          </p:cNvPr>
          <p:cNvSpPr txBox="1">
            <a:spLocks/>
          </p:cNvSpPr>
          <p:nvPr/>
        </p:nvSpPr>
        <p:spPr>
          <a:xfrm>
            <a:off x="6598768" y="4389120"/>
            <a:ext cx="3108960" cy="173736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9558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400" b="0" i="0" dirty="0">
                <a:solidFill>
                  <a:schemeClr val="tx1"/>
                </a:solidFill>
                <a:latin typeface="+mn-lt"/>
              </a:rPr>
              <a:t>Дизайн и макет</a:t>
            </a:r>
            <a:endParaRPr lang="ru-RU" sz="1400" dirty="0">
              <a:solidFill>
                <a:schemeClr val="tx1"/>
              </a:solidFill>
            </a:endParaRPr>
          </a:p>
          <a:p>
            <a:pPr marL="195580" indent="-19558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400" b="0" i="0" dirty="0">
                <a:solidFill>
                  <a:schemeClr val="tx1"/>
                </a:solidFill>
                <a:latin typeface="+mn-lt"/>
              </a:rPr>
              <a:t>kirlorich@yandex.ru</a:t>
            </a:r>
            <a:endParaRPr lang="ru-RU" sz="1400" dirty="0">
              <a:solidFill>
                <a:schemeClr val="tx1"/>
              </a:solidFill>
            </a:endParaRPr>
          </a:p>
          <a:p>
            <a:pPr marL="195580" indent="-19558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400" b="0" i="0" dirty="0">
                <a:solidFill>
                  <a:schemeClr val="tx1"/>
                </a:solidFill>
                <a:latin typeface="+mn-lt"/>
              </a:rPr>
              <a:t>ОДС № 42</a:t>
            </a:r>
            <a:endParaRPr lang="ru-RU" sz="1400" dirty="0">
              <a:solidFill>
                <a:schemeClr val="tx1"/>
              </a:solidFill>
            </a:endParaRPr>
          </a:p>
          <a:p>
            <a:pPr marL="195580" indent="-19558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400" b="0" i="0" dirty="0">
                <a:solidFill>
                  <a:schemeClr val="tx1"/>
                </a:solidFill>
                <a:latin typeface="+mn-lt"/>
              </a:rPr>
              <a:t>Москва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A6667DF4-EBE1-FE51-F5D5-DAB4CF8A77A3}"/>
              </a:ext>
            </a:extLst>
          </p:cNvPr>
          <p:cNvSpPr txBox="1">
            <a:spLocks/>
          </p:cNvSpPr>
          <p:nvPr/>
        </p:nvSpPr>
        <p:spPr>
          <a:xfrm>
            <a:off x="6598768" y="3886200"/>
            <a:ext cx="3108960" cy="45720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i="0" dirty="0">
                <a:solidFill>
                  <a:schemeClr val="accent5"/>
                </a:solidFill>
                <a:latin typeface="+mn-lt"/>
              </a:rPr>
              <a:t>Лариса Киреева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Скругленный прямоугольник 16">
            <a:extLst>
              <a:ext uri="{FF2B5EF4-FFF2-40B4-BE49-F238E27FC236}">
                <a16:creationId xmlns:a16="http://schemas.microsoft.com/office/drawing/2014/main" id="{EF707B46-3E95-B773-72E0-C1DC5DF162FD}"/>
              </a:ext>
            </a:extLst>
          </p:cNvPr>
          <p:cNvSpPr/>
          <p:nvPr/>
        </p:nvSpPr>
        <p:spPr>
          <a:xfrm>
            <a:off x="2255368" y="1517904"/>
            <a:ext cx="3566160" cy="483717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8" name="Rounded Rectangle 67">
            <a:extLst>
              <a:ext uri="{FF2B5EF4-FFF2-40B4-BE49-F238E27FC236}">
                <a16:creationId xmlns:a16="http://schemas.microsoft.com/office/drawing/2014/main" id="{31834B46-8BF1-2D14-4B7E-5320CF2B50B1}"/>
              </a:ext>
            </a:extLst>
          </p:cNvPr>
          <p:cNvSpPr/>
          <p:nvPr/>
        </p:nvSpPr>
        <p:spPr>
          <a:xfrm>
            <a:off x="3032608" y="1828800"/>
            <a:ext cx="2011680" cy="1828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CF243F-3EA0-45E0-C852-001AF6467F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4" b="4574"/>
          <a:stretch>
            <a:fillRect/>
          </a:stretch>
        </p:blipFill>
        <p:spPr bwMode="auto">
          <a:xfrm>
            <a:off x="3032125" y="1828800"/>
            <a:ext cx="2012950" cy="1828800"/>
          </a:xfrm>
          <a:prstGeom prst="rect">
            <a:avLst/>
          </a:prstGeom>
        </p:spPr>
      </p:pic>
      <p:sp>
        <p:nvSpPr>
          <p:cNvPr id="10" name="Rounded Rectangle 68">
            <a:extLst>
              <a:ext uri="{FF2B5EF4-FFF2-40B4-BE49-F238E27FC236}">
                <a16:creationId xmlns:a16="http://schemas.microsoft.com/office/drawing/2014/main" id="{CC825998-9B7D-9C24-249D-205D5D854623}"/>
              </a:ext>
            </a:extLst>
          </p:cNvPr>
          <p:cNvSpPr/>
          <p:nvPr/>
        </p:nvSpPr>
        <p:spPr>
          <a:xfrm>
            <a:off x="7147408" y="1828800"/>
            <a:ext cx="2011680" cy="1828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8B117E-6810-2680-A1EA-96289030AF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3" b="11233"/>
          <a:stretch>
            <a:fillRect/>
          </a:stretch>
        </p:blipFill>
        <p:spPr bwMode="auto">
          <a:xfrm>
            <a:off x="7146925" y="1828800"/>
            <a:ext cx="2012950" cy="1828800"/>
          </a:xfrm>
          <a:prstGeom prst="rect">
            <a:avLst/>
          </a:prstGeom>
        </p:spPr>
      </p:pic>
      <p:sp>
        <p:nvSpPr>
          <p:cNvPr id="12" name="Текст 8">
            <a:extLst>
              <a:ext uri="{FF2B5EF4-FFF2-40B4-BE49-F238E27FC236}">
                <a16:creationId xmlns:a16="http://schemas.microsoft.com/office/drawing/2014/main" id="{1CCA3F96-B182-8669-DEE2-968A20A1818D}"/>
              </a:ext>
            </a:extLst>
          </p:cNvPr>
          <p:cNvSpPr txBox="1">
            <a:spLocks/>
          </p:cNvSpPr>
          <p:nvPr/>
        </p:nvSpPr>
        <p:spPr bwMode="auto">
          <a:xfrm>
            <a:off x="2483968" y="4389120"/>
            <a:ext cx="3108960" cy="173736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95580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ru-RU">
                <a:solidFill>
                  <a:schemeClr val="tx1"/>
                </a:solidFill>
              </a:rPr>
              <a:t>Капитан команды, разработка</a:t>
            </a:r>
          </a:p>
          <a:p>
            <a:pPr marL="195580" indent="-195580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ru-RU">
                <a:solidFill>
                  <a:schemeClr val="tx1"/>
                </a:solidFill>
              </a:rPr>
              <a:t>@KireevGitGud</a:t>
            </a:r>
          </a:p>
          <a:p>
            <a:pPr marL="195580" indent="-195580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ru-RU">
                <a:solidFill>
                  <a:schemeClr val="tx1"/>
                </a:solidFill>
              </a:rPr>
              <a:t>ООО ГКС</a:t>
            </a:r>
          </a:p>
          <a:p>
            <a:pPr marL="195580" indent="-195580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ru-RU">
                <a:solidFill>
                  <a:schemeClr val="tx1"/>
                </a:solidFill>
              </a:rPr>
              <a:t>Москва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039378FD-F161-113B-A4D6-225ABF8A7D17}"/>
              </a:ext>
            </a:extLst>
          </p:cNvPr>
          <p:cNvSpPr txBox="1">
            <a:spLocks/>
          </p:cNvSpPr>
          <p:nvPr/>
        </p:nvSpPr>
        <p:spPr>
          <a:xfrm>
            <a:off x="2483968" y="3886200"/>
            <a:ext cx="3108960" cy="45720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i="0" dirty="0">
                <a:solidFill>
                  <a:schemeClr val="accent5"/>
                </a:solidFill>
                <a:latin typeface="+mn-lt"/>
              </a:rPr>
              <a:t>Артём Киреев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83548" name="Скругленный прямоугольник 1"/>
          <p:cNvSpPr/>
          <p:nvPr/>
        </p:nvSpPr>
        <p:spPr bwMode="auto">
          <a:xfrm>
            <a:off x="346075" y="324562"/>
            <a:ext cx="427024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3515515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10161576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 И ЗАДАЧЕ</a:t>
            </a:r>
          </a:p>
        </p:txBody>
      </p:sp>
      <p:sp>
        <p:nvSpPr>
          <p:cNvPr id="1618295215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Мы семейная команда из двух человек. Артём пишет код, Лариса отвечает за дизайн и макет. Весь продукт, от теста до кабинетов, собрали вдвоём.</a:t>
            </a:r>
          </a:p>
        </p:txBody>
      </p:sp>
      <p:sp>
        <p:nvSpPr>
          <p:cNvPr id="45243058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087514434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Эталонной разметки нет — построили синтетику со «скрытой истиной». Первый детектор утечек давал 47% ложных срабатываний — добавили базовую линию позиции. Эмбеддинги путали жаргон — заменили словарём. Трое разметчиков не сошлись в оценках (κ −0,08) — честно показали это в отчёте.</a:t>
            </a:r>
          </a:p>
        </p:txBody>
      </p:sp>
      <p:sp>
        <p:nvSpPr>
          <p:cNvPr id="833122305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934191626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Резюме и самооценка плохо говорят о реальном уровне. Хотелось, чтобы грейд подтверждался делом, а работодатель сам приходил к кандидату с конкретным предложением.</a:t>
            </a:r>
          </a:p>
        </p:txBody>
      </p:sp>
      <p:sp>
        <p:nvSpPr>
          <p:cNvPr id="2133427314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810492667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66021212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9678677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86764235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2005974005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776156312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829167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60114737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1271701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1061819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3289190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FastAPI + PostgreSQL, React + TypeScript, всё в docker compose</a:t>
            </a:r>
          </a:p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ФСП ID: OIDC через Keycloak и мок реестра ФСП по нашему контракту данных</a:t>
            </a:r>
          </a:p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Ответы проверяются исполнением кода и SQL-движком, LLM не нужна</a:t>
            </a:r>
          </a:p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GigaChat только уточняет разбор текста; GPU не нужен, стек ~1 ГБ RAM</a:t>
            </a:r>
          </a:p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50 одновременных пользователей: 0% ошибок, p95 подборки 218 мс</a:t>
            </a:r>
          </a:p>
        </p:txBody>
      </p:sp>
      <p:sp>
        <p:nvSpPr>
          <p:cNvPr id="145219784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Работодатель видит грейд, подтверждённый тестом, а не самооценку</a:t>
            </a:r>
          </a:p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Кандидат не рассылает резюме: приглашения приходят сами, с вилкой</a:t>
            </a:r>
          </a:p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Для ФСП — канал трудоустройства участников; достижения поднимают в выдаче</a:t>
            </a:r>
          </a:p>
          <a:p>
            <a:pPr>
              <a:spcAft>
                <a:spcPts val="1000"/>
              </a:spcAft>
              <a:defRPr/>
            </a:pPr>
            <a:r>
              <a:rPr lang="ru-RU" sz="1600">
                <a:solidFill>
                  <a:schemeClr val="tx1"/>
                </a:solidFill>
              </a:rPr>
              <a:t>Дальше: пилот на 50–100 участниках ФСП, калибровка заданий по реальным ответам, интеграция с реестром ФСП и ATS</a:t>
            </a:r>
          </a:p>
        </p:txBody>
      </p:sp>
      <p:sp>
        <p:nvSpPr>
          <p:cNvPr id="1839766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93570426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32904484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и развитие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62086" name="Скругленный прямоугольник 11"/>
          <p:cNvSpPr/>
          <p:nvPr/>
        </p:nvSpPr>
        <p:spPr bwMode="auto">
          <a:xfrm>
            <a:off x="346075" y="324562"/>
            <a:ext cx="387705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94744396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43333181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Потребность</a:t>
            </a:r>
          </a:p>
        </p:txBody>
      </p:sp>
      <p:sp>
        <p:nvSpPr>
          <p:cNvPr id="1284751432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NLP извлекает стек, грейд, формат, город и вилку</a:t>
            </a:r>
          </a:p>
        </p:txBody>
      </p:sp>
      <p:sp>
        <p:nvSpPr>
          <p:cNvPr id="227835238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Подборка</a:t>
            </a:r>
          </a:p>
        </p:txBody>
      </p:sp>
      <p:sp>
        <p:nvSpPr>
          <p:cNvPr id="143866410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Стек, подтверждённый тестом, весит больше заявленного; у карточки плюсы и минусы</a:t>
            </a:r>
          </a:p>
        </p:txBody>
      </p:sp>
      <p:sp>
        <p:nvSpPr>
          <p:cNvPr id="2116558482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Ответ</a:t>
            </a:r>
          </a:p>
        </p:txBody>
      </p:sp>
      <p:sp>
        <p:nvSpPr>
          <p:cNvPr id="1685804325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Принятие открывает контакты, отказ с причиной перенастраивает веса</a:t>
            </a:r>
          </a:p>
        </p:txBody>
      </p:sp>
      <p:sp>
        <p:nvSpPr>
          <p:cNvPr id="53689327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Категории</a:t>
            </a:r>
          </a:p>
        </p:txBody>
      </p:sp>
      <p:sp>
        <p:nvSpPr>
          <p:cNvPr id="1022831124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Целевая и соседние категории «специализация × грейд»</a:t>
            </a:r>
          </a:p>
        </p:txBody>
      </p:sp>
      <p:sp>
        <p:nvSpPr>
          <p:cNvPr id="7977665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Приглашение</a:t>
            </a:r>
          </a:p>
        </p:txBody>
      </p:sp>
      <p:sp>
        <p:nvSpPr>
          <p:cNvPr id="276045407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Анонимно, вилка обязательна и сверяется с ожиданиями без раскрытия суммы</a:t>
            </a:r>
          </a:p>
        </p:txBody>
      </p:sp>
      <p:cxnSp>
        <p:nvCxnSpPr>
          <p:cNvPr id="1397566437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047559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00226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933253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3916103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3469107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48727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5014694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479054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450450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2140924882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867174403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2021474932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618269075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01644283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ПОДБОРА</a:t>
            </a:r>
          </a:p>
        </p:txBody>
      </p:sp>
      <p:sp>
        <p:nvSpPr>
          <p:cNvPr id="875661930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033246321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779349075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596165733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4693445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758375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47031767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8402571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85264035" name="Скругленный прямоугольник 1"/>
          <p:cNvSpPr/>
          <p:nvPr/>
        </p:nvSpPr>
        <p:spPr bwMode="auto">
          <a:xfrm>
            <a:off x="346075" y="324562"/>
            <a:ext cx="44668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31344454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0270428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6099502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045089884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sz="1800" b="1">
                <a:solidFill>
                  <a:srgbClr val="520978"/>
                </a:solidFill>
              </a:rPr>
              <a:t>Привязка ФСП ID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>
                <a:solidFill>
                  <a:srgbClr val="1C1D22"/>
                </a:solidFill>
              </a:rPr>
              <a:t>Вход через OIDC (Keycloak, realm fsp). Достижения загружаются из реестра по предложенному нами контракту данных</a:t>
            </a:r>
          </a:p>
        </p:txBody>
      </p:sp>
      <p:sp>
        <p:nvSpPr>
          <p:cNvPr id="141507300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sz="1800" b="1">
                <a:solidFill>
                  <a:srgbClr val="520978"/>
                </a:solidFill>
              </a:rPr>
              <a:t>Сигнал ФСП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>
                <a:solidFill>
                  <a:srgbClr val="1C1D22"/>
                </a:solidFill>
              </a:rPr>
              <a:t>Результат × давность по каждому соревнованию плюс разряд. Иерархии соревнований нет, участие без места ограничено потолком</a:t>
            </a:r>
          </a:p>
        </p:txBody>
      </p:sp>
      <p:sp>
        <p:nvSpPr>
          <p:cNvPr id="1701453826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sz="1800" b="1">
                <a:solidFill>
                  <a:srgbClr val="520978"/>
                </a:solidFill>
              </a:rPr>
              <a:t>Без истории — без штрафа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>
                <a:solidFill>
                  <a:srgbClr val="1C1D22"/>
                </a:solidFill>
              </a:rPr>
              <a:t>ФСП ранжирует внутри категории и не влияет на грейд. С ФСП порядок точнее: ρ 0,56 против 0,54</a:t>
            </a:r>
          </a:p>
        </p:txBody>
      </p:sp>
      <p:cxnSp>
        <p:nvCxnSpPr>
          <p:cNvPr id="145545566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3094932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622907455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897215741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920779209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8445774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ФСП ID И ДОСТИЖЕНИЯ</a:t>
            </a:r>
          </a:p>
        </p:txBody>
      </p:sp>
      <p:cxnSp>
        <p:nvCxnSpPr>
          <p:cNvPr id="2049240634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78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608670" name="Скругленный прямоугольник 9"/>
          <p:cNvSpPr/>
          <p:nvPr/>
        </p:nvSpPr>
        <p:spPr bwMode="auto">
          <a:xfrm>
            <a:off x="346075" y="324562"/>
            <a:ext cx="486003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40666487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8816413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35386533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4011169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7899578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97818848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Семейства заданий</a:t>
            </a:r>
          </a:p>
        </p:txBody>
      </p:sp>
      <p:sp>
        <p:nvSpPr>
          <p:cNvPr id="1290138178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59 семейств, 150 позиций. Данные генерируются, ответ вычисляется кодом или SQL-движком. У каждого свой экземпляр</a:t>
            </a:r>
          </a:p>
        </p:txBody>
      </p:sp>
      <p:sp>
        <p:nvSpPr>
          <p:cNvPr id="1769036653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Адаптивный тест</a:t>
            </a:r>
          </a:p>
        </p:txBody>
      </p:sp>
      <p:sp>
        <p:nvSpPr>
          <p:cNvPr id="1034136765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IRT 3PL + CAT: 10–18 заданий с балансом навыков. Грейд присваивается при P(θ ≥ порога) ≥ 0,6</a:t>
            </a:r>
          </a:p>
        </p:txBody>
      </p:sp>
      <p:sp>
        <p:nvSpPr>
          <p:cNvPr id="2988917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Экспозиция</a:t>
            </a:r>
          </a:p>
        </p:txBody>
      </p:sp>
      <p:sp>
        <p:nvSpPr>
          <p:cNvPr id="1183170875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Sympson–Hetter внутри специализации и лимит на семейство: одни и те же задания не расходятся</a:t>
            </a:r>
          </a:p>
        </p:txBody>
      </p:sp>
      <p:sp>
        <p:nvSpPr>
          <p:cNvPr id="1671661195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Детектор утечек</a:t>
            </a:r>
          </a:p>
        </p:txBody>
      </p:sp>
      <p:sp>
        <p:nvSpPr>
          <p:cNvPr id="55982948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</a:pPr>
            <a:r>
              <a:rPr sz="1200">
                <a:solidFill>
                  <a:srgbClr val="1C1D22"/>
                </a:solidFill>
              </a:rPr>
              <a:t>CUSUM по каждой позиции против её базовой линии. Сигнал для проверки, без автоштрафов</a:t>
            </a:r>
          </a:p>
        </p:txBody>
      </p:sp>
      <p:sp>
        <p:nvSpPr>
          <p:cNvPr id="107605048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ТЕСТИРОВАНИЯ</a:t>
            </a:r>
          </a:p>
        </p:txBody>
      </p:sp>
      <p:sp>
        <p:nvSpPr>
          <p:cNvPr id="381693050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sz="24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573252987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 sz="24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6597073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 sz="24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62613438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sz="24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1769036654" name="Факт 1"/>
          <p:cNvSpPr txBox="1"/>
          <p:nvPr/>
        </p:nvSpPr>
        <p:spPr>
          <a:xfrm>
            <a:off x="612648" y="4572000"/>
            <a:ext cx="2286000" cy="6400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200" b="1">
                <a:solidFill>
                  <a:srgbClr val="FF0053"/>
                </a:solidFill>
              </a:rPr>
              <a:t>0,25%</a:t>
            </a:r>
          </a:p>
        </p:txBody>
      </p:sp>
      <p:sp>
        <p:nvSpPr>
          <p:cNvPr id="1769036655" name="Факт подпись 1"/>
          <p:cNvSpPr txBox="1"/>
          <p:nvPr/>
        </p:nvSpPr>
        <p:spPr>
          <a:xfrm>
            <a:off x="612648" y="5212080"/>
            <a:ext cx="22860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>
                <a:solidFill>
                  <a:srgbClr val="1C1D22"/>
                </a:solidFill>
              </a:rPr>
              <a:t>медианный шанс, что двум кандидатам выпадет один экземпляр</a:t>
            </a:r>
          </a:p>
        </p:txBody>
      </p:sp>
      <p:sp>
        <p:nvSpPr>
          <p:cNvPr id="1769036656" name="Факт 2"/>
          <p:cNvSpPr txBox="1"/>
          <p:nvPr/>
        </p:nvSpPr>
        <p:spPr>
          <a:xfrm>
            <a:off x="3547872" y="4572000"/>
            <a:ext cx="2286000" cy="6400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200" b="1">
                <a:solidFill>
                  <a:srgbClr val="FF0053"/>
                </a:solidFill>
              </a:rPr>
              <a:t>κ 0,85</a:t>
            </a:r>
          </a:p>
        </p:txBody>
      </p:sp>
      <p:sp>
        <p:nvSpPr>
          <p:cNvPr id="1769036657" name="Факт подпись 2"/>
          <p:cNvSpPr txBox="1"/>
          <p:nvPr/>
        </p:nvSpPr>
        <p:spPr>
          <a:xfrm>
            <a:off x="3547872" y="5212080"/>
            <a:ext cx="22860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>
                <a:solidFill>
                  <a:srgbClr val="1C1D22"/>
                </a:solidFill>
              </a:rPr>
              <a:t>согласие грейда при повторном тесте</a:t>
            </a:r>
          </a:p>
        </p:txBody>
      </p:sp>
      <p:sp>
        <p:nvSpPr>
          <p:cNvPr id="1769036658" name="Факт 3"/>
          <p:cNvSpPr txBox="1"/>
          <p:nvPr/>
        </p:nvSpPr>
        <p:spPr>
          <a:xfrm>
            <a:off x="6547104" y="4572000"/>
            <a:ext cx="2286000" cy="6400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200" b="1">
                <a:solidFill>
                  <a:srgbClr val="FF0053"/>
                </a:solidFill>
              </a:rPr>
              <a:t>≤ 0,68%</a:t>
            </a:r>
          </a:p>
        </p:txBody>
      </p:sp>
      <p:sp>
        <p:nvSpPr>
          <p:cNvPr id="1769036659" name="Факт подпись 3"/>
          <p:cNvSpPr txBox="1"/>
          <p:nvPr/>
        </p:nvSpPr>
        <p:spPr>
          <a:xfrm>
            <a:off x="6547104" y="5212080"/>
            <a:ext cx="22860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>
                <a:solidFill>
                  <a:srgbClr val="1C1D22"/>
                </a:solidFill>
              </a:rPr>
              <a:t>шанс увидеть тот же экземпляр, что и знакомый</a:t>
            </a:r>
          </a:p>
        </p:txBody>
      </p:sp>
      <p:sp>
        <p:nvSpPr>
          <p:cNvPr id="1769036660" name="Факт 4"/>
          <p:cNvSpPr txBox="1"/>
          <p:nvPr/>
        </p:nvSpPr>
        <p:spPr>
          <a:xfrm>
            <a:off x="9500616" y="4572000"/>
            <a:ext cx="2286000" cy="6400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200" b="1">
                <a:solidFill>
                  <a:srgbClr val="FF0053"/>
                </a:solidFill>
              </a:rPr>
              <a:t>80%</a:t>
            </a:r>
          </a:p>
        </p:txBody>
      </p:sp>
      <p:sp>
        <p:nvSpPr>
          <p:cNvPr id="1769036661" name="Факт подпись 4"/>
          <p:cNvSpPr txBox="1"/>
          <p:nvPr/>
        </p:nvSpPr>
        <p:spPr>
          <a:xfrm>
            <a:off x="9500616" y="5212080"/>
            <a:ext cx="22860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>
                <a:solidFill>
                  <a:srgbClr val="1C1D22"/>
                </a:solidFill>
              </a:rPr>
              <a:t>утечек находит, если ответ знает половина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08761" name="Скругленный прямоугольник 1"/>
          <p:cNvSpPr/>
          <p:nvPr/>
        </p:nvSpPr>
        <p:spPr bwMode="auto">
          <a:xfrm>
            <a:off x="346075" y="324562"/>
            <a:ext cx="50566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93931620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58618158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Слитый ключ бесполезен</a:t>
            </a:r>
          </a:p>
        </p:txBody>
      </p:sp>
      <p:sp>
        <p:nvSpPr>
          <p:cNvPr id="1476402510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 wrap="square"/>
          <a:lstStyle/>
          <a:p>
            <a:pPr marL="0" indent="0">
              <a:buNone/>
            </a:pPr>
            <a:r>
              <a:rPr sz="1400" b="0">
                <a:solidFill>
                  <a:srgbClr val="FFD6E4"/>
                </a:solidFill>
              </a:rPr>
              <a:t>У каждого свой экземпляр: другие данные и другой ответ</a:t>
            </a:r>
          </a:p>
        </p:txBody>
      </p:sp>
      <p:sp>
        <p:nvSpPr>
          <p:cNvPr id="962192884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Утечка метода — это навык</a:t>
            </a:r>
          </a:p>
        </p:txBody>
      </p:sp>
      <p:sp>
        <p:nvSpPr>
          <p:cNvPr id="598473888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 wrap="square"/>
          <a:lstStyle/>
          <a:p>
            <a:pPr marL="0" indent="0">
              <a:buNone/>
            </a:pPr>
            <a:r>
              <a:rPr sz="1400" b="0">
                <a:solidFill>
                  <a:srgbClr val="FFD6E4"/>
                </a:solidFill>
              </a:rPr>
              <a:t>Кто заранее разобрал, как решать такие задачи, по сути освоил навык</a:t>
            </a:r>
          </a:p>
        </p:txBody>
      </p:sp>
      <p:sp>
        <p:nvSpPr>
          <p:cNvPr id="11479473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Экспозиция под контролем</a:t>
            </a:r>
          </a:p>
        </p:txBody>
      </p:sp>
      <p:sp>
        <p:nvSpPr>
          <p:cNvPr id="210181818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 wrap="square"/>
          <a:lstStyle/>
          <a:p>
            <a:pPr marL="0" indent="0">
              <a:buNone/>
            </a:pPr>
            <a:r>
              <a:rPr sz="1400" b="0">
                <a:solidFill>
                  <a:srgbClr val="FFD6E4"/>
                </a:solidFill>
              </a:rPr>
              <a:t>Тот же экземпляр, что у знакомого, выпадает не чаще 0,68%</a:t>
            </a:r>
          </a:p>
        </p:txBody>
      </p:sp>
      <p:sp>
        <p:nvSpPr>
          <p:cNvPr id="157558149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CUSUM-детектор</a:t>
            </a:r>
          </a:p>
        </p:txBody>
      </p:sp>
      <p:sp>
        <p:nvSpPr>
          <p:cNvPr id="552658118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 wrap="square"/>
          <a:lstStyle/>
          <a:p>
            <a:pPr marL="0" indent="0">
              <a:buNone/>
            </a:pPr>
            <a:r>
              <a:rPr sz="1400" b="0">
                <a:solidFill>
                  <a:srgbClr val="FFD6E4"/>
                </a:solidFill>
              </a:rPr>
              <a:t>5,3% ложных срабатываний, находит 80% утечек</a:t>
            </a:r>
          </a:p>
        </p:txBody>
      </p:sp>
      <p:graphicFrame>
        <p:nvGraphicFramePr>
          <p:cNvPr id="731881017" name="Диаграмма 11"/>
          <p:cNvGraphicFramePr>
            <a:graphicFrameLocks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169972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УСТОЙЧИВОСТЬ К УТЕЧКАМ</a:t>
            </a:r>
          </a:p>
        </p:txBody>
      </p:sp>
    </p:spTree>
    <p:extLst>
      <p:ext uri="{BB962C8B-B14F-4D97-AF65-F5344CB8AC3E}">
        <p14:creationId xmlns:p14="http://schemas.microsoft.com/office/powerpoint/2010/main" val="123195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204540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6364475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94488416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57432081" name="Скругленный прямоугольник 1"/>
          <p:cNvSpPr/>
          <p:nvPr/>
        </p:nvSpPr>
        <p:spPr bwMode="auto">
          <a:xfrm>
            <a:off x="346075" y="324562"/>
            <a:ext cx="250088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57612943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10</a:t>
            </a:fld>
            <a:endParaRPr lang="ru-RU"/>
          </a:p>
        </p:txBody>
      </p:sp>
      <p:sp>
        <p:nvSpPr>
          <p:cNvPr id="1056199932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800" b="1">
                <a:solidFill>
                  <a:srgbClr val="520978"/>
                </a:solidFill>
              </a:rPr>
              <a:t>Грейд верен в 76,7% случаев</a:t>
            </a:r>
          </a:p>
        </p:txBody>
      </p:sp>
      <p:sp>
        <p:nvSpPr>
          <p:cNvPr id="26920506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Самооценка кандидатов верна в 63%. Ошибка больше чем на один грейд — 0%</a:t>
            </a:r>
          </a:p>
        </p:txBody>
      </p:sp>
      <p:sp>
        <p:nvSpPr>
          <p:cNvPr id="223639364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800" b="1">
                <a:solidFill>
                  <a:srgbClr val="520978"/>
                </a:solidFill>
              </a:rPr>
              <a:t>Повторный тест: κ = 0,85</a:t>
            </a:r>
          </a:p>
        </p:txBody>
      </p:sp>
      <p:sp>
        <p:nvSpPr>
          <p:cNvPr id="388789443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Новые экземпляры заданий дают тот же грейд: «почти полное согласие»</a:t>
            </a:r>
          </a:p>
        </p:txBody>
      </p:sp>
      <p:sp>
        <p:nvSpPr>
          <p:cNvPr id="124065338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800" b="1">
                <a:solidFill>
                  <a:srgbClr val="520978"/>
                </a:solidFill>
              </a:rPr>
              <a:t>Утечка ключей: 53,5% → 0%</a:t>
            </a:r>
          </a:p>
        </p:txBody>
      </p:sp>
      <p:sp>
        <p:nvSpPr>
          <p:cNvPr id="2056845298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Столько кандидатов со слитым ключом к 40% заданий поднимают грейд: статичный тест и наш</a:t>
            </a:r>
          </a:p>
        </p:txBody>
      </p:sp>
      <p:graphicFrame>
        <p:nvGraphicFramePr>
          <p:cNvPr id="570415954" name="Диаграмма 9"/>
          <p:cNvGraphicFramePr>
            <a:graphicFrameLocks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9152555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/>
          <a:lstStyle/>
          <a:p>
            <a:r>
              <a:t>ВАЛИДАЦИЯ</a:t>
            </a:r>
          </a:p>
        </p:txBody>
      </p:sp>
      <p:sp>
        <p:nvSpPr>
          <p:cNvPr id="2056845299" name="Подпись валидации"/>
          <p:cNvSpPr txBox="1"/>
          <p:nvPr/>
        </p:nvSpPr>
        <p:spPr>
          <a:xfrm>
            <a:off x="347472" y="5897880"/>
            <a:ext cx="5751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FFD6E4"/>
                </a:solidFill>
              </a:rPr>
              <a:t>Синтетика с известной «скрытой истиной»: 3000 кандидатов, 40 вакансий × 900 кандидатов. Методика — в документации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716955" name="Скругленный прямоугольник 1"/>
          <p:cNvSpPr/>
          <p:nvPr/>
        </p:nvSpPr>
        <p:spPr bwMode="auto">
          <a:xfrm>
            <a:off x="346075" y="324562"/>
            <a:ext cx="2107691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643223131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9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fsp-talent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1811368806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9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fsp-talent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762591973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53448067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520978"/>
                </a:solidFill>
              </a:rPr>
              <a:t>Кабинет работодателя</a:t>
            </a:r>
          </a:p>
          <a:p>
            <a:pPr marL="0" indent="0">
              <a:spcAft>
                <a:spcPts val="400"/>
              </a:spcAft>
              <a:buNone/>
            </a:pPr>
            <a:r>
              <a:rPr sz="1400" b="0">
                <a:solidFill>
                  <a:srgbClr val="1C1D22"/>
                </a:solidFill>
              </a:rPr>
              <a:t>Банк кандидатов: тепловая карта категорий, фильтры, сила профиля и навыки, подтверждённые тестом</a:t>
            </a:r>
          </a:p>
        </p:txBody>
      </p:sp>
      <p:sp>
        <p:nvSpPr>
          <p:cNvPr id="574674369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520978"/>
                </a:solidFill>
              </a:rPr>
              <a:t>Кабинет кандидата</a:t>
            </a:r>
          </a:p>
          <a:p>
            <a:pPr marL="0" indent="0">
              <a:spcAft>
                <a:spcPts val="400"/>
              </a:spcAft>
              <a:buNone/>
            </a:pPr>
            <a:r>
              <a:rPr sz="1400" b="0">
                <a:solidFill>
                  <a:srgbClr val="1C1D22"/>
                </a:solidFill>
              </a:rPr>
              <a:t>Тест на грейд с понятными правилами. А также отклики, задания недели, PDF-профиль с QR и мобильная версия</a:t>
            </a:r>
          </a:p>
        </p:txBody>
      </p:sp>
      <p:pic>
        <p:nvPicPr>
          <p:cNvPr id="765411977" name="Рисунок 4" descr="scr_employer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87" b="87"/>
          <a:stretch>
            <a:fillRect/>
          </a:stretch>
        </p:blipFill>
        <p:spPr>
          <a:xfrm>
            <a:off x="1210642" y="1577998"/>
            <a:ext cx="4121688" cy="2283975"/>
          </a:xfrm>
        </p:spPr>
      </p:pic>
      <p:pic>
        <p:nvPicPr>
          <p:cNvPr id="490497078" name="Рисунок 5" descr="scr_candidate.pn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t="157" b="157"/>
          <a:stretch>
            <a:fillRect/>
          </a:stretch>
        </p:blipFill>
        <p:spPr>
          <a:xfrm>
            <a:off x="6855540" y="1577998"/>
            <a:ext cx="4121688" cy="2283975"/>
          </a:xfrm>
        </p:spPr>
      </p:pic>
      <p:sp>
        <p:nvSpPr>
          <p:cNvPr id="19998590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ПРОДУКТ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813996" name="Скругленный прямоугольник 11"/>
          <p:cNvSpPr/>
          <p:nvPr/>
        </p:nvSpPr>
        <p:spPr bwMode="auto"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30729576" name="Скругленный прямоугольник 13"/>
          <p:cNvSpPr/>
          <p:nvPr/>
        </p:nvSpPr>
        <p:spPr bwMode="auto"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41312304" name="Скругленный прямоугольник 14"/>
          <p:cNvSpPr/>
          <p:nvPr/>
        </p:nvSpPr>
        <p:spPr bwMode="auto"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74805226" name="Скругленный прямоугольник 15"/>
          <p:cNvSpPr/>
          <p:nvPr/>
        </p:nvSpPr>
        <p:spPr bwMode="auto"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31698152" name="Скругленный прямоугольник 9"/>
          <p:cNvSpPr/>
          <p:nvPr/>
        </p:nvSpPr>
        <p:spPr bwMode="auto">
          <a:xfrm>
            <a:off x="346075" y="324562"/>
            <a:ext cx="38770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1134606" name="Рисунок 1" descr="ph_candidate-c-test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99" r="99"/>
          <a:stretch>
            <a:fillRect/>
          </a:stretch>
        </p:blipFill>
        <p:spPr>
          <a:xfrm>
            <a:off x="1044995" y="1139854"/>
            <a:ext cx="1726214" cy="3657600"/>
          </a:xfrm>
        </p:spPr>
      </p:pic>
      <p:pic>
        <p:nvPicPr>
          <p:cNvPr id="654527896" name="Рисунок 2" descr="ph_employer-e-search.png"/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99" r="99"/>
          <a:stretch>
            <a:fillRect/>
          </a:stretch>
        </p:blipFill>
        <p:spPr>
          <a:xfrm>
            <a:off x="3770385" y="1139854"/>
            <a:ext cx="1726214" cy="3657600"/>
          </a:xfrm>
        </p:spPr>
      </p:pic>
      <p:pic>
        <p:nvPicPr>
          <p:cNvPr id="159519037" name="Рисунок 3" descr="ph_candidate-c-invitations.png"/>
          <p:cNvPicPr>
            <a:picLocks noGrp="1" noChangeAspect="1"/>
          </p:cNvPicPr>
          <p:nvPr>
            <p:ph type="pic" sz="quarter" idx="16"/>
          </p:nvPr>
        </p:nvPicPr>
        <p:blipFill>
          <a:blip r:embed="rId5"/>
          <a:srcRect l="99" r="99"/>
          <a:stretch>
            <a:fillRect/>
          </a:stretch>
        </p:blipFill>
        <p:spPr>
          <a:xfrm>
            <a:off x="6752863" y="1144729"/>
            <a:ext cx="1726214" cy="3657600"/>
          </a:xfrm>
        </p:spPr>
      </p:pic>
      <p:pic>
        <p:nvPicPr>
          <p:cNvPr id="571264140" name="Рисунок 4" descr="ph_candidate-c-tasks.png"/>
          <p:cNvPicPr>
            <a:picLocks noGrp="1" noChangeAspect="1"/>
          </p:cNvPicPr>
          <p:nvPr>
            <p:ph type="pic" sz="quarter" idx="17"/>
          </p:nvPr>
        </p:nvPicPr>
        <p:blipFill>
          <a:blip r:embed="rId6"/>
          <a:srcRect l="99" r="99"/>
          <a:stretch>
            <a:fillRect/>
          </a:stretch>
        </p:blipFill>
        <p:spPr>
          <a:xfrm>
            <a:off x="9621936" y="1120110"/>
            <a:ext cx="1726214" cy="3657600"/>
          </a:xfrm>
        </p:spPr>
      </p:pic>
      <p:sp>
        <p:nvSpPr>
          <p:cNvPr id="1354267438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t>12</a:t>
            </a:fld>
            <a:endParaRPr lang="ru-RU"/>
          </a:p>
        </p:txBody>
      </p:sp>
      <p:sp>
        <p:nvSpPr>
          <p:cNvPr id="138460899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449155" y="5035451"/>
            <a:ext cx="2658088" cy="1271340"/>
          </a:xfrm>
        </p:spPr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sz="1600" b="1">
                <a:solidFill>
                  <a:srgbClr val="520978"/>
                </a:solidFill>
              </a:rPr>
              <a:t>Тест на грейд</a:t>
            </a:r>
          </a:p>
          <a:p>
            <a:pPr marL="0" indent="0"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Правила и выбор грейда</a:t>
            </a:r>
          </a:p>
        </p:txBody>
      </p:sp>
      <p:sp>
        <p:nvSpPr>
          <p:cNvPr id="233192134" name="Текст 6"/>
          <p:cNvSpPr>
            <a:spLocks noGrp="1"/>
          </p:cNvSpPr>
          <p:nvPr>
            <p:ph type="body" sz="quarter" idx="19"/>
          </p:nvPr>
        </p:nvSpPr>
        <p:spPr bwMode="auto">
          <a:xfrm>
            <a:off x="3302624" y="5035451"/>
            <a:ext cx="2706185" cy="1271340"/>
          </a:xfrm>
        </p:spPr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sz="1600" b="1">
                <a:solidFill>
                  <a:srgbClr val="520978"/>
                </a:solidFill>
              </a:rPr>
              <a:t>Подборка</a:t>
            </a:r>
          </a:p>
          <a:p>
            <a:pPr marL="0" indent="0"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Карточки с навыками, подтверждёнными тестом</a:t>
            </a:r>
          </a:p>
        </p:txBody>
      </p:sp>
      <p:sp>
        <p:nvSpPr>
          <p:cNvPr id="141094058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204192" y="5035451"/>
            <a:ext cx="2728103" cy="1271340"/>
          </a:xfrm>
        </p:spPr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sz="1600" b="1">
                <a:solidFill>
                  <a:srgbClr val="520978"/>
                </a:solidFill>
              </a:rPr>
              <a:t>Приглашения</a:t>
            </a:r>
          </a:p>
          <a:p>
            <a:pPr marL="0" indent="0"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Предложение с вилкой: принять или отказать с причиной</a:t>
            </a:r>
          </a:p>
        </p:txBody>
      </p:sp>
      <p:sp>
        <p:nvSpPr>
          <p:cNvPr id="764700590" name="Текст 8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5035451"/>
            <a:ext cx="2739248" cy="1271340"/>
          </a:xfrm>
        </p:spPr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sz="1600" b="1">
                <a:solidFill>
                  <a:srgbClr val="520978"/>
                </a:solidFill>
              </a:rPr>
              <a:t>Задания недели</a:t>
            </a:r>
          </a:p>
          <a:p>
            <a:pPr marL="0" indent="0"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Короткие задачи от работодателей</a:t>
            </a:r>
          </a:p>
        </p:txBody>
      </p:sp>
      <p:sp>
        <p:nvSpPr>
          <p:cNvPr id="162450428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МОБИЛЬНАЯ ВЕРСИЯ</a:t>
            </a:r>
          </a:p>
        </p:txBody>
      </p:sp>
      <p:grpSp>
        <p:nvGrpSpPr>
          <p:cNvPr id="1637829831" name="Группа 121"/>
          <p:cNvGrpSpPr/>
          <p:nvPr/>
        </p:nvGrpSpPr>
        <p:grpSpPr bwMode="auto"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42" name="Рисунок 141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602309102" name="Группа 146"/>
          <p:cNvGrpSpPr/>
          <p:nvPr/>
        </p:nvGrpSpPr>
        <p:grpSpPr bwMode="auto"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67" name="Рисунок 166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939960901" name="Группа 171"/>
          <p:cNvGrpSpPr/>
          <p:nvPr/>
        </p:nvGrpSpPr>
        <p:grpSpPr bwMode="auto"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92" name="Рисунок 191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531726125" name="Группа 196"/>
          <p:cNvGrpSpPr/>
          <p:nvPr/>
        </p:nvGrpSpPr>
        <p:grpSpPr bwMode="auto"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217" name="Рисунок 216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9900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718833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СКВОЗНОЙ СЦЕНАРИЙ</a:t>
            </a:r>
          </a:p>
        </p:txBody>
      </p:sp>
      <p:sp>
        <p:nvSpPr>
          <p:cNvPr id="70380810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155680" cy="712587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0053"/>
                </a:solidFill>
              </a:rPr>
              <a:t>01   </a:t>
            </a:r>
            <a:r>
              <a:rPr sz="1800" b="1">
                <a:solidFill>
                  <a:srgbClr val="FFFFFF"/>
                </a:solidFill>
              </a:rPr>
              <a:t>Регистрация — </a:t>
            </a:r>
            <a:r>
              <a:rPr sz="1600" b="0">
                <a:solidFill>
                  <a:srgbClr val="FFD6E4"/>
                </a:solidFill>
              </a:rPr>
              <a:t>кандидат подтверждает email и даёт согласия</a:t>
            </a:r>
          </a:p>
        </p:txBody>
      </p:sp>
      <p:sp>
        <p:nvSpPr>
          <p:cNvPr id="1505230847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155680" cy="712587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0053"/>
                </a:solidFill>
              </a:rPr>
              <a:t>02   </a:t>
            </a:r>
            <a:r>
              <a:rPr sz="1800" b="1">
                <a:solidFill>
                  <a:srgbClr val="FFFFFF"/>
                </a:solidFill>
              </a:rPr>
              <a:t>Опрос и тест — </a:t>
            </a:r>
            <a:r>
              <a:rPr sz="1600" b="0">
                <a:solidFill>
                  <a:srgbClr val="FFD6E4"/>
                </a:solidFill>
              </a:rPr>
              <a:t>специализация, стек, самооценка, затем 10–18 адаптивных заданий</a:t>
            </a:r>
          </a:p>
        </p:txBody>
      </p:sp>
      <p:sp>
        <p:nvSpPr>
          <p:cNvPr id="1045296699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11155680" cy="712587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0053"/>
                </a:solidFill>
              </a:rPr>
              <a:t>03   </a:t>
            </a:r>
            <a:r>
              <a:rPr sz="1800" b="1">
                <a:solidFill>
                  <a:srgbClr val="FFFFFF"/>
                </a:solidFill>
              </a:rPr>
              <a:t>Категория — </a:t>
            </a:r>
            <a:r>
              <a:rPr sz="1600" b="0">
                <a:solidFill>
                  <a:srgbClr val="FFD6E4"/>
                </a:solidFill>
              </a:rPr>
              <a:t>«специализация × грейд», интервал оценки и профиль по навыкам</a:t>
            </a:r>
          </a:p>
        </p:txBody>
      </p:sp>
      <p:sp>
        <p:nvSpPr>
          <p:cNvPr id="626550398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155680" cy="712587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0053"/>
                </a:solidFill>
              </a:rPr>
              <a:t>04   </a:t>
            </a:r>
            <a:r>
              <a:rPr sz="1800" b="1">
                <a:solidFill>
                  <a:srgbClr val="FFFFFF"/>
                </a:solidFill>
              </a:rPr>
              <a:t>Подборка — </a:t>
            </a:r>
            <a:r>
              <a:rPr sz="1600" b="0">
                <a:solidFill>
                  <a:srgbClr val="FFD6E4"/>
                </a:solidFill>
              </a:rPr>
              <a:t>работодатель описывает задачу текстом и получает список с объяснениями</a:t>
            </a:r>
          </a:p>
        </p:txBody>
      </p:sp>
      <p:sp>
        <p:nvSpPr>
          <p:cNvPr id="1021773817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11155680" cy="712587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0053"/>
                </a:solidFill>
              </a:rPr>
              <a:t>05   </a:t>
            </a:r>
            <a:r>
              <a:rPr sz="1800" b="1">
                <a:solidFill>
                  <a:srgbClr val="FFFFFF"/>
                </a:solidFill>
              </a:rPr>
              <a:t>Контакт — </a:t>
            </a:r>
            <a:r>
              <a:rPr sz="1600" b="0">
                <a:solidFill>
                  <a:srgbClr val="FFD6E4"/>
                </a:solidFill>
              </a:rPr>
              <a:t>приглашение с вилкой, принятие открывает контакты; или классический отклик</a:t>
            </a:r>
          </a:p>
        </p:txBody>
      </p:sp>
      <p:sp>
        <p:nvSpPr>
          <p:cNvPr id="1000745578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1027158582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4893955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226329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003617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8547108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214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918014" name="Скругленный прямоугольник 1"/>
          <p:cNvSpPr/>
          <p:nvPr/>
        </p:nvSpPr>
        <p:spPr bwMode="auto">
          <a:xfrm>
            <a:off x="346075" y="324562"/>
            <a:ext cx="289407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0358401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07622912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592929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45049027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42186848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97564498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04761087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600" b="1">
                <a:solidFill>
                  <a:srgbClr val="520978"/>
                </a:solidFill>
              </a:rPr>
              <a:t>Один docker compose, ~1 ГБ RAM под нагрузкой, GPU не нужен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600" b="0">
                <a:solidFill>
                  <a:srgbClr val="1C1D22"/>
                </a:solidFill>
              </a:rPr>
              <a:t>REST API на FastAPI, описание в Swagger /api/docs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600" b="0">
                <a:solidFill>
                  <a:srgbClr val="1C1D22"/>
                </a:solidFill>
              </a:rPr>
              <a:t>Модули бэкенда: assessment (IRT/CAT и семейства), matching, invitations, fsp, resume, trust, tasks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600" b="0">
                <a:solidFill>
                  <a:srgbClr val="1C1D22"/>
                </a:solidFill>
              </a:rPr>
              <a:t>Вебхуки для ATS и PDF-профиль с QR-проверкой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600" b="0">
                <a:solidFill>
                  <a:srgbClr val="1C1D22"/>
                </a:solidFill>
              </a:rPr>
              <a:t>Качество: pytest, e2e на Playwright, CI в GitHub Actions</a:t>
            </a:r>
          </a:p>
        </p:txBody>
      </p:sp>
      <p:sp>
        <p:nvSpPr>
          <p:cNvPr id="844527581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Frontend:  </a:t>
            </a:r>
            <a:r>
              <a:rPr sz="1400" b="0">
                <a:solidFill>
                  <a:srgbClr val="1C1D22"/>
                </a:solidFill>
              </a:rPr>
              <a:t>React + TypeScript + Vite, nginx</a:t>
            </a:r>
          </a:p>
        </p:txBody>
      </p:sp>
      <p:sp>
        <p:nvSpPr>
          <p:cNvPr id="2073974929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Backend:  </a:t>
            </a:r>
            <a:r>
              <a:rPr sz="1400" b="0">
                <a:solidFill>
                  <a:srgbClr val="1C1D22"/>
                </a:solidFill>
              </a:rPr>
              <a:t>FastAPI, SQLAlchemy, Alembic</a:t>
            </a:r>
          </a:p>
        </p:txBody>
      </p:sp>
      <p:sp>
        <p:nvSpPr>
          <p:cNvPr id="1845722001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PostgreSQL:  </a:t>
            </a:r>
            <a:r>
              <a:rPr sz="1400" b="0">
                <a:solidFill>
                  <a:srgbClr val="1C1D22"/>
                </a:solidFill>
              </a:rPr>
              <a:t>профили, тесты, приглашения, вакансии</a:t>
            </a:r>
          </a:p>
        </p:txBody>
      </p:sp>
      <p:sp>
        <p:nvSpPr>
          <p:cNvPr id="110720490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Keycloak:  </a:t>
            </a:r>
            <a:r>
              <a:rPr sz="1400" b="0">
                <a:solidFill>
                  <a:srgbClr val="1C1D22"/>
                </a:solidFill>
              </a:rPr>
              <a:t>ФСП ID: OIDC, realm fsp</a:t>
            </a:r>
          </a:p>
        </p:txBody>
      </p:sp>
      <p:sp>
        <p:nvSpPr>
          <p:cNvPr id="1241393758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520978"/>
                </a:solidFill>
              </a:rPr>
              <a:t>Реестр ФСП и mailpit:  </a:t>
            </a:r>
            <a:r>
              <a:rPr sz="1400" b="0">
                <a:solidFill>
                  <a:srgbClr val="1C1D22"/>
                </a:solidFill>
              </a:rPr>
              <a:t>мок реестра достижений, тестовая почта</a:t>
            </a:r>
          </a:p>
        </p:txBody>
      </p:sp>
      <p:sp>
        <p:nvSpPr>
          <p:cNvPr id="998394975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7923743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2066997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23269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66063630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34372002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7438813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4330587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 wrap="square"/>
          <a:lstStyle/>
          <a:p>
            <a:pPr marL="0" indent="0">
              <a:buNone/>
            </a:pPr>
            <a:r>
              <a:rPr sz="1800" b="1">
                <a:solidFill>
                  <a:srgbClr val="520978"/>
                </a:solidFill>
              </a:rPr>
              <a:t>Ограничения</a:t>
            </a:r>
          </a:p>
        </p:txBody>
      </p:sp>
      <p:sp>
        <p:nvSpPr>
          <p:cNvPr id="1569627369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 wrap="square"/>
          <a:lstStyle/>
          <a:p>
            <a:pPr marL="0" indent="0">
              <a:buNone/>
            </a:pPr>
            <a:r>
              <a:rPr sz="1600" b="0">
                <a:solidFill>
                  <a:srgbClr val="1C1D22"/>
                </a:solidFill>
              </a:rPr>
              <a:t>Параметры заданий пока экспертные и проверены на синтетике. Разметчики-люди не сошлись в оценках</a:t>
            </a:r>
          </a:p>
        </p:txBody>
      </p:sp>
      <p:sp>
        <p:nvSpPr>
          <p:cNvPr id="1304287218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 wrap="square"/>
          <a:lstStyle/>
          <a:p>
            <a:pPr marL="0" indent="0">
              <a:buNone/>
            </a:pPr>
            <a:r>
              <a:rPr sz="1800" b="1">
                <a:solidFill>
                  <a:srgbClr val="520978"/>
                </a:solidFill>
              </a:rPr>
              <a:t>Пилот</a:t>
            </a:r>
          </a:p>
        </p:txBody>
      </p:sp>
      <p:sp>
        <p:nvSpPr>
          <p:cNvPr id="697640445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 wrap="square"/>
          <a:lstStyle/>
          <a:p>
            <a:pPr marL="0" indent="0">
              <a:buNone/>
            </a:pPr>
            <a:r>
              <a:rPr sz="1600" b="0">
                <a:solidFill>
                  <a:srgbClr val="1C1D22"/>
                </a:solidFill>
              </a:rPr>
              <a:t>50–100 участников ФСП, калибровка заданий по реальным ответам, сравнение грейда с оценкой тимлидов</a:t>
            </a:r>
          </a:p>
        </p:txBody>
      </p:sp>
      <p:sp>
        <p:nvSpPr>
          <p:cNvPr id="44692073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 wrap="square"/>
          <a:lstStyle/>
          <a:p>
            <a:pPr marL="0" indent="0">
              <a:buNone/>
            </a:pPr>
            <a:r>
              <a:rPr sz="1800" b="1">
                <a:solidFill>
                  <a:srgbClr val="520978"/>
                </a:solidFill>
              </a:rPr>
              <a:t>Внедрение</a:t>
            </a:r>
          </a:p>
        </p:txBody>
      </p:sp>
      <p:sp>
        <p:nvSpPr>
          <p:cNvPr id="1793906525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 wrap="square"/>
          <a:lstStyle/>
          <a:p>
            <a:pPr marL="0" indent="0">
              <a:buNone/>
            </a:pPr>
            <a:r>
              <a:rPr sz="1600" b="0">
                <a:solidFill>
                  <a:srgbClr val="1C1D22"/>
                </a:solidFill>
              </a:rPr>
              <a:t>Подключение к реальному реестру и ФСП ID, интеграция с ATS работодателей, защита от фиктивных вакансий</a:t>
            </a:r>
          </a:p>
        </p:txBody>
      </p:sp>
      <p:sp>
        <p:nvSpPr>
          <p:cNvPr id="119300848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 wrap="square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ОГРАНИЧЕНИЯ И ПЛАНЫ</a:t>
            </a:r>
          </a:p>
        </p:txBody>
      </p:sp>
      <p:sp>
        <p:nvSpPr>
          <p:cNvPr id="58501540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 wrap="square"/>
          <a:lstStyle/>
          <a:p>
            <a:pPr marL="0" indent="0">
              <a:buNone/>
            </a:pPr>
            <a:r>
              <a:rPr sz="28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70558680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 wrap="square"/>
          <a:lstStyle/>
          <a:p>
            <a:pPr marL="0" indent="0">
              <a:buNone/>
            </a:pPr>
            <a:r>
              <a:rPr sz="28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62009809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 wrap="square"/>
          <a:lstStyle/>
          <a:p>
            <a:pPr marL="0" indent="0">
              <a:buNone/>
            </a:pPr>
            <a:r>
              <a:rPr sz="2800" b="1">
                <a:solidFill>
                  <a:srgbClr val="FF005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0849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90444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17070539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374544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1D22"/>
                </a:solidFill>
              </a:rPr>
              <a:t>Сквозной путь работает: регистрация → опрос и тест → категория → подборка → приглашение → контакт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1D22"/>
                </a:solidFill>
              </a:rPr>
              <a:t>Сверх MVP: отклик на вакансию, задания недели, PDF-профиль с QR, траст-скор работодателя, вебхуки для ATS, мобильная версия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1D22"/>
                </a:solidFill>
              </a:rPr>
              <a:t>Кандидат без истории ФСП ничего не теряет: ФСП ранжирует внутри категории и не влияет на грейд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1D22"/>
                </a:solidFill>
              </a:rPr>
              <a:t>Валидация на синтетике, разметка людьми и нагрузочный тест описаны в документации вместе с ограничениями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1D22"/>
                </a:solidFill>
              </a:rPr>
              <a:t>Локальный запуск: docker compose up -d → localhost:8080, демо-доступ — на странице входа</a:t>
            </a:r>
          </a:p>
        </p:txBody>
      </p:sp>
      <p:sp>
        <p:nvSpPr>
          <p:cNvPr id="35011766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6875111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r>
              <a:t>ИТОГ</a:t>
            </a:r>
          </a:p>
        </p:txBody>
      </p:sp>
      <p:sp>
        <p:nvSpPr>
          <p:cNvPr id="1717070540" name="Итог число 1"/>
          <p:cNvSpPr txBox="1"/>
          <p:nvPr/>
        </p:nvSpPr>
        <p:spPr>
          <a:xfrm>
            <a:off x="868680" y="43434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0053"/>
                </a:solidFill>
              </a:rPr>
              <a:t>150</a:t>
            </a:r>
          </a:p>
        </p:txBody>
      </p:sp>
      <p:sp>
        <p:nvSpPr>
          <p:cNvPr id="1717070541" name="Итог подпись 1"/>
          <p:cNvSpPr txBox="1"/>
          <p:nvPr/>
        </p:nvSpPr>
        <p:spPr>
          <a:xfrm>
            <a:off x="868680" y="5166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C1D22"/>
                </a:solidFill>
              </a:rPr>
              <a:t>позиций в банке заданий, 59 семейств</a:t>
            </a:r>
          </a:p>
        </p:txBody>
      </p:sp>
      <p:sp>
        <p:nvSpPr>
          <p:cNvPr id="1717070542" name="Итог число 2"/>
          <p:cNvSpPr txBox="1"/>
          <p:nvPr/>
        </p:nvSpPr>
        <p:spPr>
          <a:xfrm>
            <a:off x="4526280" y="43434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0053"/>
                </a:solidFill>
              </a:rPr>
              <a:t>0%</a:t>
            </a:r>
          </a:p>
        </p:txBody>
      </p:sp>
      <p:sp>
        <p:nvSpPr>
          <p:cNvPr id="1717070543" name="Итог подпись 2"/>
          <p:cNvSpPr txBox="1"/>
          <p:nvPr/>
        </p:nvSpPr>
        <p:spPr>
          <a:xfrm>
            <a:off x="4526280" y="5166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C1D22"/>
                </a:solidFill>
              </a:rPr>
              <a:t>ошибок при 50 одновременных пользователях</a:t>
            </a:r>
          </a:p>
        </p:txBody>
      </p:sp>
      <p:sp>
        <p:nvSpPr>
          <p:cNvPr id="1717070544" name="Итог число 3"/>
          <p:cNvSpPr txBox="1"/>
          <p:nvPr/>
        </p:nvSpPr>
        <p:spPr>
          <a:xfrm>
            <a:off x="8183879" y="43434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0053"/>
                </a:solidFill>
              </a:rPr>
              <a:t>1 ГБ</a:t>
            </a:r>
          </a:p>
        </p:txBody>
      </p:sp>
      <p:sp>
        <p:nvSpPr>
          <p:cNvPr id="1717070545" name="Итог подпись 3"/>
          <p:cNvSpPr txBox="1"/>
          <p:nvPr/>
        </p:nvSpPr>
        <p:spPr>
          <a:xfrm>
            <a:off x="8183879" y="5166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C1D22"/>
                </a:solidFill>
              </a:rPr>
              <a:t>памяти на весь стек, GPU не нужен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2926080"/>
            <a:ext cx="6949440" cy="2331720"/>
          </a:xfrm>
          <a:noFill/>
        </p:spPr>
        <p:txBody>
          <a:bodyPr wrap="square" anchor="b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ru-RU" sz="3600" b="1" i="0" dirty="0">
                <a:solidFill>
                  <a:schemeClr val="bg1"/>
                </a:solidFill>
                <a:latin typeface="+mn-lt"/>
              </a:rPr>
              <a:t>СПАСИБО!</a:t>
            </a:r>
            <a:endParaRPr lang="ru-RU" sz="3600" dirty="0">
              <a:solidFill>
                <a:schemeClr val="bg1"/>
              </a:solidFill>
            </a:endParaRPr>
          </a:p>
          <a:p>
            <a:pPr marL="0" indent="0">
              <a:lnSpc>
                <a:spcPct val="95000"/>
              </a:lnSpc>
              <a:spcBef>
                <a:spcPts val="400"/>
              </a:spcBef>
              <a:buNone/>
            </a:pPr>
            <a:r>
              <a:rPr lang="ru-RU" sz="2400" b="0" i="0" dirty="0">
                <a:solidFill>
                  <a:schemeClr val="bg1"/>
                </a:solidFill>
                <a:latin typeface="+mn-lt"/>
              </a:rPr>
              <a:t>Готовы ответить на вопросы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1752" y="5486400"/>
            <a:ext cx="10058400" cy="777240"/>
          </a:xfrm>
          <a:noFill/>
        </p:spPr>
        <p:txBody>
          <a:bodyPr wrap="square" anchor="ctr">
            <a:noAutofit/>
          </a:bodyPr>
          <a:lstStyle/>
          <a:p>
            <a:pPr marL="0" indent="0">
              <a:lnSpc>
                <a:spcPct val="114999"/>
              </a:lnSpc>
              <a:spcBef>
                <a:spcPts val="0"/>
              </a:spcBef>
              <a:buNone/>
            </a:pPr>
            <a:r>
              <a:rPr lang="ru-RU" sz="1600" b="1" i="0" dirty="0">
                <a:solidFill>
                  <a:schemeClr val="bg1"/>
                </a:solidFill>
                <a:latin typeface="+mn-lt"/>
              </a:rPr>
              <a:t>Код: </a:t>
            </a:r>
            <a:r>
              <a:rPr lang="ru-RU" sz="1600" b="0" i="0" u="sng" dirty="0">
                <a:solidFill>
                  <a:schemeClr val="bg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ru-RU" sz="1600" b="0" i="0" u="sng" dirty="0" err="1">
                <a:solidFill>
                  <a:schemeClr val="bg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kireev-duty</a:t>
            </a:r>
            <a:r>
              <a:rPr lang="ru-RU" sz="1600" b="0" i="0" u="sng" dirty="0">
                <a:solidFill>
                  <a:schemeClr val="bg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ru-RU" sz="1600" dirty="0">
              <a:solidFill>
                <a:schemeClr val="bg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0"/>
              </a:spcBef>
              <a:buNone/>
            </a:pPr>
            <a:r>
              <a:rPr lang="ru-RU" sz="1600" b="1" i="0" dirty="0">
                <a:solidFill>
                  <a:schemeClr val="bg1"/>
                </a:solidFill>
                <a:latin typeface="+mn-lt"/>
              </a:rPr>
              <a:t>Стенд: </a:t>
            </a:r>
            <a:r>
              <a:rPr lang="ru-RU" sz="1600" b="0" i="0" u="sng" dirty="0" err="1">
                <a:solidFill>
                  <a:schemeClr val="bg1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deckforge.streamlit.app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483AF1-6FB1-663F-D79B-27962D41AB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69" y="263752"/>
            <a:ext cx="1563415" cy="1563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1354</Words>
  <Application>Microsoft Office PowerPoint</Application>
  <PresentationFormat>Широкоэкранный</PresentationFormat>
  <Paragraphs>200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Ashen One</vt:lpstr>
      <vt:lpstr>Презентация PowerPoint</vt:lpstr>
      <vt:lpstr>УЧАСТНИКИ КОМАНДЫ</vt:lpstr>
      <vt:lpstr>О КОМАНДЕ И ЗАДАЧЕ</vt:lpstr>
      <vt:lpstr>КОРОТКО О РЕШЕНИИ</vt:lpstr>
      <vt:lpstr>МЕХАНИКА ПОДБОРА</vt:lpstr>
      <vt:lpstr>ФСП ID И ДОСТИЖЕНИЯ</vt:lpstr>
      <vt:lpstr>МЕХАНИКА ТЕСТИРОВАНИЯ</vt:lpstr>
      <vt:lpstr>УСТОЙЧИВОСТЬ К УТЕЧКАМ</vt:lpstr>
      <vt:lpstr>ВАЛИДАЦИЯ</vt:lpstr>
      <vt:lpstr>ПРОДУКТ</vt:lpstr>
      <vt:lpstr>МОБИЛЬНАЯ ВЕРСИЯ</vt:lpstr>
      <vt:lpstr>СКВОЗНОЙ СЦЕНАРИЙ</vt:lpstr>
      <vt:lpstr>АРХИТЕКТУРА</vt:lpstr>
      <vt:lpstr>ОГРАНИЧЕНИЯ И ПЛАНЫ</vt:lpstr>
      <vt:lpstr>ИТОГ</vt:lpstr>
      <vt:lpstr>СПАСИБО! Готовы ответить на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Артём</cp:lastModifiedBy>
  <cp:revision>104</cp:revision>
  <dcterms:created xsi:type="dcterms:W3CDTF">2023-05-15T07:36:23Z</dcterms:created>
  <dcterms:modified xsi:type="dcterms:W3CDTF">2026-10-07T09:12:39Z</dcterms:modified>
</cp:coreProperties>
</file>